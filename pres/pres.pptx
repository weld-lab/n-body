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58" r:id="rId5"/>
    <p:sldId id="259" r:id="rId6"/>
    <p:sldId id="261" r:id="rId7"/>
    <p:sldId id="267" r:id="rId8"/>
    <p:sldId id="264" r:id="rId9"/>
    <p:sldId id="260" r:id="rId10"/>
    <p:sldId id="263" r:id="rId11"/>
    <p:sldId id="262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2092"/>
    <a:srgbClr val="BBEFF3"/>
    <a:srgbClr val="0B141B"/>
    <a:srgbClr val="0E1C2D"/>
    <a:srgbClr val="0E1820"/>
    <a:srgbClr val="0B1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0"/>
    <p:restoredTop sz="94694"/>
  </p:normalViewPr>
  <p:slideViewPr>
    <p:cSldViewPr snapToGrid="0">
      <p:cViewPr varScale="1">
        <p:scale>
          <a:sx n="98" d="100"/>
          <a:sy n="98" d="100"/>
        </p:scale>
        <p:origin x="2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C5DFB-3A36-874B-BD00-D0CA161606E6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2C4C5-71D5-8A4E-8665-85AD4AF7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9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2C4C5-71D5-8A4E-8665-85AD4AF7DC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2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3E67-4D8B-1012-8EE2-4DA556E2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5C22A-378C-0844-5431-1F2090A35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D55FD-7D6F-87D8-1F04-6D8455DF7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8E6DC-060A-939F-6F99-AEA5271CC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2C4C5-71D5-8A4E-8665-85AD4AF7DC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5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355A-43B4-BB54-DBB0-A740453DF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C0605-4895-6B95-05B4-95AFAC440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CC8B1-CDCF-4A81-FB40-9025AAC9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DC58A-6A45-9742-8124-691CDE602537}" type="datetime1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19B5-832D-B9BC-85D5-58F2EB89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E7538-2265-3768-DB49-A1DB8282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DBF0-B4F0-D2B4-635D-C89D1F47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C7C6-D50E-E910-D863-76AC19226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EA96-7F7A-0534-FDC8-74FD96F5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F2E6-BCB8-DF40-9819-1AD5C769714A}" type="datetime1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F1198-C3D0-A88E-1E2C-6A908F7E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67354-42F0-02E5-676B-78C34706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5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AA03-C0D1-89F1-A564-2E26B6E6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FD134-BE56-EC4F-8DB2-9B7D3E093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979EB-9B51-85D8-C15A-70F5BB87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4A04-2D0E-584D-BAC9-E821D2650E3B}" type="datetime1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2F4DF-DF6D-D2AC-3506-D001E1DB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372CA-2488-1F4F-8FB5-893E46F8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6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3A256-850E-67C9-E9CD-B223674F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D4F35-9DD5-A8A4-3457-A6C28D5B2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F33B6-8271-E993-2A8B-73FDC6340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DEC12-91BB-7F18-94A4-21213B54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A4A-5134-E74F-9AF2-58A6DFB5BF80}" type="datetime1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1BD2-2989-88C0-E71D-A1B0CE56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CCD3E-AC44-EB27-F4A4-A41035B0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3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9B4B-64C8-FD58-67DE-91D5A1F8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93C4A-0864-38FE-DED5-3BC0F52F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37427-0D0B-47E7-1A35-301DBF433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11567-F0DE-A179-9056-D633B34A6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6C9A8F-BD20-4D0D-CC89-2E1217C20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31C60-764A-2216-F19B-AF0DC616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BE18-1E11-5843-A6D9-7D30E1EA4F4C}" type="datetime1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59669-D50B-3820-A24F-2ACEED2C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12204-E3CD-1F0A-CDF6-5DB3E927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5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4AD4-419B-ECBC-4715-D7009A0C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1B889-9D90-C9D6-D35F-A4D4FF18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5596-B161-AE48-BA01-BC44BE73863A}" type="datetime1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EAD4A-CADB-AA58-8BBC-8ADE84B3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431F3-9376-6993-F343-89F0515B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0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58DFF-1C9B-DAE7-7938-105918290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17D6-B03E-9741-AC10-3A99993F2343}" type="datetime1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E5258-0F64-6CCE-5F1B-4E3956B3F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3B74A-80FC-4029-359F-FF9C31AC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20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49E2-0768-D7EC-99C3-B7A9644B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362AE-CA47-D0B3-B0FE-0B5B3247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E56B9-00C9-8A4B-FC7A-A0C684609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DAFA1-635F-DB7D-29E6-183056C4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729C5-8108-3042-B1FA-5CB089CFF4C1}" type="datetime1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FAF6B-8F80-4906-4B8F-C1D2BA04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8793-1708-0708-9D8A-5265873A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6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7588-A544-087B-D398-B93AC15F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3BF0BD-CA55-3C4D-E715-C753A823D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7742A-D722-E40A-9041-B712655D8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AB862-87EC-A78D-F3B7-97559D57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979-3CC3-6045-B872-325190518649}" type="datetime1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13451-0C68-7246-BCB2-77687EF1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BAE1E-175C-45CD-0F39-63970713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1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7C9A-F922-F5FE-EE72-495E08C2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48627-9DE3-8E91-4E51-F2E4BE94C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8711D-870F-7ADA-BD9B-DCA9AEA9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0308-31A9-5849-9C6F-0FA23458E89F}" type="datetime1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692A8-A878-D2F7-9645-CDE7D0D6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382FD-1979-999F-0C33-E50479AB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7AD28-4C94-E839-8222-A4D0C05E3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C4FA6-E68A-5648-545E-570FB238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71288-758F-7B09-E852-4C032490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5A45-E419-DF49-86B7-017175E1F67C}" type="datetime1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E1C4-952D-886E-9886-2F13E361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FB51-C6C9-A404-CDB9-0824FB9A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9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BA642-6EBB-2CDD-0A4F-DAA6B381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4283D-948B-E06C-16A0-91A881049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837E-4405-E6AD-7F4D-EB2E9E123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27386-079F-7144-B140-C26729C6202B}" type="datetime1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6E87-77AF-D818-1B17-34A947CD0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4D34C-2C38-DB16-3778-17971E7C8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09E3E-38BD-F344-8499-F785F7B0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0E4682B-BB31-F19D-78AA-C2C4088A0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140"/>
            <a:ext cx="9144000" cy="11498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The N-Body Problem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4B37C57-AEBB-0A0E-8B06-2DA5FCB69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New York" pitchFamily="2" charset="0"/>
                <a:ea typeface="New York" pitchFamily="2" charset="0"/>
                <a:cs typeface="New York" pitchFamily="2" charset="0"/>
              </a:rPr>
              <a:t>high performance computing </a:t>
            </a:r>
          </a:p>
          <a:p>
            <a:r>
              <a:rPr lang="en-US" dirty="0">
                <a:latin typeface="New York" pitchFamily="2" charset="0"/>
                <a:ea typeface="New York" pitchFamily="2" charset="0"/>
                <a:cs typeface="New York" pitchFamily="2" charset="0"/>
              </a:rPr>
              <a:t>for gravitational physics</a:t>
            </a:r>
          </a:p>
        </p:txBody>
      </p:sp>
      <p:sp>
        <p:nvSpPr>
          <p:cNvPr id="11" name="Subtitle 9">
            <a:extLst>
              <a:ext uri="{FF2B5EF4-FFF2-40B4-BE49-F238E27FC236}">
                <a16:creationId xmlns:a16="http://schemas.microsoft.com/office/drawing/2014/main" id="{E8471F26-9E59-70B2-F71B-1E116CF1498D}"/>
              </a:ext>
            </a:extLst>
          </p:cNvPr>
          <p:cNvSpPr txBox="1">
            <a:spLocks/>
          </p:cNvSpPr>
          <p:nvPr/>
        </p:nvSpPr>
        <p:spPr>
          <a:xfrm>
            <a:off x="8878329" y="6375399"/>
            <a:ext cx="2475471" cy="3460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New York" pitchFamily="2" charset="0"/>
                <a:ea typeface="New York" pitchFamily="2" charset="0"/>
                <a:cs typeface="New York" pitchFamily="2" charset="0"/>
              </a:rPr>
              <a:t>Erwan Le Dœuff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198E89-892D-7619-CBF5-2BF681D6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15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12F2C-B8CE-3524-6148-E9A34B52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DE4DAB-876B-1827-D436-13B3A3A5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12A059-48EE-78E4-8442-5041DCFF604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nbody">
            <a:hlinkClick r:id="" action="ppaction://media"/>
            <a:extLst>
              <a:ext uri="{FF2B5EF4-FFF2-40B4-BE49-F238E27FC236}">
                <a16:creationId xmlns:a16="http://schemas.microsoft.com/office/drawing/2014/main" id="{DD8EC115-4340-6C41-C57E-8318440EC8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55082" y="0"/>
            <a:ext cx="6704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0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288B9-7273-CDE1-C2D4-83A80662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52CEFE-B4B3-BAA7-D557-A9DF01DD306C}"/>
                  </a:ext>
                </a:extLst>
              </p:cNvPr>
              <p:cNvSpPr txBox="1"/>
              <p:nvPr/>
            </p:nvSpPr>
            <p:spPr>
              <a:xfrm>
                <a:off x="1992808" y="1656973"/>
                <a:ext cx="5148332" cy="2175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5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5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5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fr-FR" sz="5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5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5400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fr-FR" sz="5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fr-FR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fr-FR" sz="5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fr-FR" sz="5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5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fr-FR" sz="5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Sup>
                                <m:sSubSupPr>
                                  <m:ctrlPr>
                                    <a:rPr lang="fr-FR" sz="5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5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fr-FR" sz="5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fr-FR" sz="5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fr-FR" sz="5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fr-FR" sz="5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5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fr-FR" sz="5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fr-FR" sz="5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sz="5400" dirty="0"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52CEFE-B4B3-BAA7-D557-A9DF01DD3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08" y="1656973"/>
                <a:ext cx="5148332" cy="2175532"/>
              </a:xfrm>
              <a:prstGeom prst="rect">
                <a:avLst/>
              </a:prstGeom>
              <a:blipFill>
                <a:blip r:embed="rId2"/>
                <a:stretch>
                  <a:fillRect l="-7125" t="-134302" r="-7371" b="-185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BBC37AB9-3815-8E89-DD64-BDF2D6FC4AF7}"/>
              </a:ext>
            </a:extLst>
          </p:cNvPr>
          <p:cNvCxnSpPr>
            <a:cxnSpLocks noChangeAspect="1"/>
          </p:cNvCxnSpPr>
          <p:nvPr/>
        </p:nvCxnSpPr>
        <p:spPr>
          <a:xfrm rot="5400000">
            <a:off x="3865177" y="3868270"/>
            <a:ext cx="2011680" cy="1650613"/>
          </a:xfrm>
          <a:prstGeom prst="bentConnector3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31758118-28D2-4BD1-5435-18AEA883CA7E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3951" y="2594632"/>
            <a:ext cx="1143000" cy="760649"/>
          </a:xfrm>
          <a:prstGeom prst="bentConnector3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D67591F-68F7-F86E-42AE-08CD127D4FB0}"/>
              </a:ext>
            </a:extLst>
          </p:cNvPr>
          <p:cNvSpPr txBox="1"/>
          <p:nvPr/>
        </p:nvSpPr>
        <p:spPr>
          <a:xfrm>
            <a:off x="8060210" y="2238927"/>
            <a:ext cx="38439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Distance between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i</a:t>
            </a:r>
            <a:r>
              <a:rPr lang="en-US" sz="2800" dirty="0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 and j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78B796-38A5-1AE5-80EC-925F60CBAD3E}"/>
              </a:ext>
            </a:extLst>
          </p:cNvPr>
          <p:cNvSpPr txBox="1"/>
          <p:nvPr/>
        </p:nvSpPr>
        <p:spPr>
          <a:xfrm>
            <a:off x="2422955" y="5796347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Number of particles </a:t>
            </a:r>
          </a:p>
        </p:txBody>
      </p:sp>
    </p:spTree>
    <p:extLst>
      <p:ext uri="{BB962C8B-B14F-4D97-AF65-F5344CB8AC3E}">
        <p14:creationId xmlns:p14="http://schemas.microsoft.com/office/powerpoint/2010/main" val="22347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436059C6-1DDC-C517-B74B-B1058EFB5A08}"/>
              </a:ext>
            </a:extLst>
          </p:cNvPr>
          <p:cNvSpPr/>
          <p:nvPr/>
        </p:nvSpPr>
        <p:spPr>
          <a:xfrm>
            <a:off x="9751560" y="768455"/>
            <a:ext cx="1534296" cy="1534296"/>
          </a:xfrm>
          <a:prstGeom prst="ellipse">
            <a:avLst/>
          </a:prstGeom>
          <a:solidFill>
            <a:srgbClr val="C00000">
              <a:alpha val="2996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9F82-83DC-4718-1B3C-8F79A28B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BC8E7201-39C2-B82E-4AF5-B68AD40665DE}"/>
              </a:ext>
            </a:extLst>
          </p:cNvPr>
          <p:cNvSpPr txBox="1">
            <a:spLocks/>
          </p:cNvSpPr>
          <p:nvPr/>
        </p:nvSpPr>
        <p:spPr>
          <a:xfrm>
            <a:off x="275967" y="265714"/>
            <a:ext cx="3381632" cy="636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Diverges? </a:t>
            </a:r>
            <a:r>
              <a:rPr lang="en-US" sz="3200" u="sng" dirty="0">
                <a:latin typeface="New York" pitchFamily="2" charset="0"/>
                <a:ea typeface="New York" pitchFamily="2" charset="0"/>
                <a:cs typeface="New York" pitchFamily="2" charset="0"/>
              </a:rPr>
              <a:t>Softening.</a:t>
            </a: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C37CE8-A9A7-57A1-2152-0CA3223BEC0A}"/>
                  </a:ext>
                </a:extLst>
              </p:cNvPr>
              <p:cNvSpPr txBox="1"/>
              <p:nvPr/>
            </p:nvSpPr>
            <p:spPr>
              <a:xfrm>
                <a:off x="2618960" y="1810612"/>
                <a:ext cx="6701130" cy="17727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fr-FR" sz="4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4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4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fr-FR" sz="4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fr-FR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4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fr-FR" sz="4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Sup>
                                <m:sSubSupPr>
                                  <m:ctrlP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fr-FR" sz="4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4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fr-FR" sz="4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fr-FR" sz="4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4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fr-FR" sz="4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fr-FR" sz="4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fr-FR" sz="4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4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3/2</m:t>
                                  </m:r>
                                </m:sup>
                              </m:sSup>
                              <m:r>
                                <a:rPr lang="fr-FR" sz="4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4400" dirty="0"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C37CE8-A9A7-57A1-2152-0CA3223BE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960" y="1810612"/>
                <a:ext cx="6701130" cy="1772729"/>
              </a:xfrm>
              <a:prstGeom prst="rect">
                <a:avLst/>
              </a:prstGeom>
              <a:blipFill>
                <a:blip r:embed="rId2"/>
                <a:stretch>
                  <a:fillRect l="-5303" t="-134043" r="-5492" b="-183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3DBCAA5-1161-B276-8B19-B8C4CC43756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92428" y="3468581"/>
            <a:ext cx="571372" cy="492211"/>
          </a:xfrm>
          <a:prstGeom prst="bentConnector3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9">
            <a:extLst>
              <a:ext uri="{FF2B5EF4-FFF2-40B4-BE49-F238E27FC236}">
                <a16:creationId xmlns:a16="http://schemas.microsoft.com/office/drawing/2014/main" id="{1E8E18F4-871D-40E4-E6DD-91B2F87D0C90}"/>
              </a:ext>
            </a:extLst>
          </p:cNvPr>
          <p:cNvSpPr txBox="1">
            <a:spLocks/>
          </p:cNvSpPr>
          <p:nvPr/>
        </p:nvSpPr>
        <p:spPr>
          <a:xfrm>
            <a:off x="6579973" y="4126872"/>
            <a:ext cx="4061253" cy="636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Softening parameter</a:t>
            </a:r>
          </a:p>
        </p:txBody>
      </p:sp>
      <p:sp>
        <p:nvSpPr>
          <p:cNvPr id="15" name="Subtitle 9">
            <a:extLst>
              <a:ext uri="{FF2B5EF4-FFF2-40B4-BE49-F238E27FC236}">
                <a16:creationId xmlns:a16="http://schemas.microsoft.com/office/drawing/2014/main" id="{3C0ECDE3-2D22-3C50-6216-30775395B59B}"/>
              </a:ext>
            </a:extLst>
          </p:cNvPr>
          <p:cNvSpPr txBox="1">
            <a:spLocks/>
          </p:cNvSpPr>
          <p:nvPr/>
        </p:nvSpPr>
        <p:spPr>
          <a:xfrm>
            <a:off x="1677919" y="5348350"/>
            <a:ext cx="9804107" cy="716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This spreads the mass uniformly over an effective volume of length </a:t>
            </a:r>
            <a:r>
              <a:rPr lang="en-US" sz="3200" b="1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e</a:t>
            </a: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694407-B70D-5904-35CD-99943CE9D5A4}"/>
              </a:ext>
            </a:extLst>
          </p:cNvPr>
          <p:cNvSpPr/>
          <p:nvPr/>
        </p:nvSpPr>
        <p:spPr>
          <a:xfrm>
            <a:off x="10475460" y="1509650"/>
            <a:ext cx="111210" cy="11121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D66F80-C204-0622-0D86-86DF32931EC6}"/>
              </a:ext>
            </a:extLst>
          </p:cNvPr>
          <p:cNvSpPr/>
          <p:nvPr/>
        </p:nvSpPr>
        <p:spPr>
          <a:xfrm>
            <a:off x="9751560" y="1484936"/>
            <a:ext cx="1534296" cy="154627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FF9821-28BC-5EDB-29E9-33DBD23381FB}"/>
              </a:ext>
            </a:extLst>
          </p:cNvPr>
          <p:cNvCxnSpPr>
            <a:cxnSpLocks/>
            <a:endCxn id="17" idx="7"/>
          </p:cNvCxnSpPr>
          <p:nvPr/>
        </p:nvCxnSpPr>
        <p:spPr>
          <a:xfrm flipV="1">
            <a:off x="10538834" y="993147"/>
            <a:ext cx="522330" cy="57456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67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566731-41B3-AA86-F5CE-D80D3EE30D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6983061" y="0"/>
            <a:ext cx="5208939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466C2-1936-90FB-7785-B6CD7801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4</a:t>
            </a:fld>
            <a:endParaRPr lang="en-US"/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B45A4C3D-714D-868F-0A06-FC6EA8C951BA}"/>
              </a:ext>
            </a:extLst>
          </p:cNvPr>
          <p:cNvSpPr txBox="1">
            <a:spLocks/>
          </p:cNvSpPr>
          <p:nvPr/>
        </p:nvSpPr>
        <p:spPr>
          <a:xfrm>
            <a:off x="365908" y="265714"/>
            <a:ext cx="8926418" cy="88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u="sng" dirty="0">
                <a:latin typeface="New York" pitchFamily="2" charset="0"/>
                <a:ea typeface="New York" pitchFamily="2" charset="0"/>
                <a:cs typeface="New York" pitchFamily="2" charset="0"/>
              </a:rPr>
              <a:t>Leapfrog integrator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901C9A-BF9D-5A0F-1BEF-3C1701E6C830}"/>
                  </a:ext>
                </a:extLst>
              </p:cNvPr>
              <p:cNvSpPr txBox="1"/>
              <p:nvPr/>
            </p:nvSpPr>
            <p:spPr>
              <a:xfrm>
                <a:off x="2110285" y="959607"/>
                <a:ext cx="7587590" cy="2070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fr-FR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fr-FR" sz="4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fr-FR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4400" b="0" dirty="0">
                  <a:latin typeface="New York" pitchFamily="2" charset="0"/>
                  <a:ea typeface="Cambria Math" panose="02040503050406030204" pitchFamily="18" charset="0"/>
                </a:endParaRPr>
              </a:p>
              <a:p>
                <a:endParaRPr lang="en-US" sz="4400" dirty="0"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901C9A-BF9D-5A0F-1BEF-3C1701E6C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285" y="959607"/>
                <a:ext cx="7587590" cy="2070375"/>
              </a:xfrm>
              <a:prstGeom prst="rect">
                <a:avLst/>
              </a:prstGeom>
              <a:blipFill>
                <a:blip r:embed="rId3"/>
                <a:stretch>
                  <a:fillRect l="-4515" r="-2508" b="-15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A5E6B-BF4D-E7B7-639E-52F3A9B368AD}"/>
                  </a:ext>
                </a:extLst>
              </p:cNvPr>
              <p:cNvSpPr txBox="1"/>
              <p:nvPr/>
            </p:nvSpPr>
            <p:spPr>
              <a:xfrm>
                <a:off x="2738777" y="2674883"/>
                <a:ext cx="7181325" cy="1904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fr-FR" sz="4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4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sz="4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fr-FR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4400" b="0" dirty="0">
                  <a:latin typeface="New York" pitchFamily="2" charset="0"/>
                  <a:ea typeface="Cambria Math" panose="02040503050406030204" pitchFamily="18" charset="0"/>
                </a:endParaRPr>
              </a:p>
              <a:p>
                <a:endParaRPr lang="en-US" sz="4400" dirty="0"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A5E6B-BF4D-E7B7-639E-52F3A9B36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77" y="2674883"/>
                <a:ext cx="7181325" cy="1904752"/>
              </a:xfrm>
              <a:prstGeom prst="rect">
                <a:avLst/>
              </a:prstGeom>
              <a:blipFill>
                <a:blip r:embed="rId4"/>
                <a:stretch>
                  <a:fillRect l="-4594" r="-353" b="-17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6FE3F7-3EB3-776D-0832-FF38153AB926}"/>
                  </a:ext>
                </a:extLst>
              </p:cNvPr>
              <p:cNvSpPr txBox="1"/>
              <p:nvPr/>
            </p:nvSpPr>
            <p:spPr>
              <a:xfrm>
                <a:off x="2271898" y="4618729"/>
                <a:ext cx="9658157" cy="20553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fr-FR" sz="4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fr-FR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fr-FR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fr-F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4400" b="0" dirty="0">
                  <a:latin typeface="New York" pitchFamily="2" charset="0"/>
                  <a:ea typeface="Cambria Math" panose="02040503050406030204" pitchFamily="18" charset="0"/>
                </a:endParaRPr>
              </a:p>
              <a:p>
                <a:endParaRPr lang="en-US" sz="4400" dirty="0"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6FE3F7-3EB3-776D-0832-FF38153AB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98" y="4618729"/>
                <a:ext cx="9658157" cy="2055306"/>
              </a:xfrm>
              <a:prstGeom prst="rect">
                <a:avLst/>
              </a:prstGeom>
              <a:blipFill>
                <a:blip r:embed="rId5"/>
                <a:stretch>
                  <a:fillRect l="-3548" b="-15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ubtitle 9">
            <a:extLst>
              <a:ext uri="{FF2B5EF4-FFF2-40B4-BE49-F238E27FC236}">
                <a16:creationId xmlns:a16="http://schemas.microsoft.com/office/drawing/2014/main" id="{008DDBDF-8098-829A-3AEB-4ABE286DF736}"/>
              </a:ext>
            </a:extLst>
          </p:cNvPr>
          <p:cNvSpPr txBox="1">
            <a:spLocks/>
          </p:cNvSpPr>
          <p:nvPr/>
        </p:nvSpPr>
        <p:spPr>
          <a:xfrm>
            <a:off x="871579" y="1451251"/>
            <a:ext cx="1417922" cy="88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Kick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099E11A-B3B2-C135-DFA5-2CC5F9E4ADD5}"/>
              </a:ext>
            </a:extLst>
          </p:cNvPr>
          <p:cNvSpPr txBox="1">
            <a:spLocks/>
          </p:cNvSpPr>
          <p:nvPr/>
        </p:nvSpPr>
        <p:spPr>
          <a:xfrm>
            <a:off x="871579" y="3311031"/>
            <a:ext cx="1417922" cy="88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Drift</a:t>
            </a:r>
          </a:p>
        </p:txBody>
      </p:sp>
      <p:sp>
        <p:nvSpPr>
          <p:cNvPr id="11" name="Subtitle 9">
            <a:extLst>
              <a:ext uri="{FF2B5EF4-FFF2-40B4-BE49-F238E27FC236}">
                <a16:creationId xmlns:a16="http://schemas.microsoft.com/office/drawing/2014/main" id="{A868D209-7F25-2266-9D23-28DD857BB2A9}"/>
              </a:ext>
            </a:extLst>
          </p:cNvPr>
          <p:cNvSpPr txBox="1">
            <a:spLocks/>
          </p:cNvSpPr>
          <p:nvPr/>
        </p:nvSpPr>
        <p:spPr>
          <a:xfrm>
            <a:off x="871579" y="5291061"/>
            <a:ext cx="1417922" cy="88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Kick</a:t>
            </a:r>
          </a:p>
        </p:txBody>
      </p:sp>
    </p:spTree>
    <p:extLst>
      <p:ext uri="{BB962C8B-B14F-4D97-AF65-F5344CB8AC3E}">
        <p14:creationId xmlns:p14="http://schemas.microsoft.com/office/powerpoint/2010/main" val="122993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E5FE-0510-545C-AC45-A0DFD005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0322-4221-08DC-9C2B-AA38177A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5</a:t>
            </a:fld>
            <a:endParaRPr lang="en-US"/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FDB5C0B5-E3EA-997F-A608-AC32FB73948A}"/>
              </a:ext>
            </a:extLst>
          </p:cNvPr>
          <p:cNvSpPr txBox="1">
            <a:spLocks/>
          </p:cNvSpPr>
          <p:nvPr/>
        </p:nvSpPr>
        <p:spPr>
          <a:xfrm>
            <a:off x="365908" y="265714"/>
            <a:ext cx="8926418" cy="88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u="sng" dirty="0">
                <a:latin typeface="New York" pitchFamily="2" charset="0"/>
                <a:ea typeface="New York" pitchFamily="2" charset="0"/>
                <a:cs typeface="New York" pitchFamily="2" charset="0"/>
              </a:rPr>
              <a:t>Implementation</a:t>
            </a:r>
          </a:p>
        </p:txBody>
      </p:sp>
      <p:sp>
        <p:nvSpPr>
          <p:cNvPr id="3" name="Subtitle 9">
            <a:extLst>
              <a:ext uri="{FF2B5EF4-FFF2-40B4-BE49-F238E27FC236}">
                <a16:creationId xmlns:a16="http://schemas.microsoft.com/office/drawing/2014/main" id="{B4F53679-8028-8946-C7A7-2858E815D8D2}"/>
              </a:ext>
            </a:extLst>
          </p:cNvPr>
          <p:cNvSpPr txBox="1">
            <a:spLocks/>
          </p:cNvSpPr>
          <p:nvPr/>
        </p:nvSpPr>
        <p:spPr>
          <a:xfrm>
            <a:off x="1012111" y="1026438"/>
            <a:ext cx="10167777" cy="4805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Naive, sequential, version is straightforward to implement,</a:t>
            </a:r>
          </a:p>
          <a:p>
            <a:pPr marL="0" indent="0">
              <a:buNone/>
            </a:pPr>
            <a:endParaRPr lang="en-US" sz="3200" dirty="0">
              <a:latin typeface="New York" pitchFamily="2" charset="0"/>
              <a:ea typeface="New York" pitchFamily="2" charset="0"/>
              <a:cs typeface="New York" pitchFamily="2" charset="0"/>
            </a:endParaRPr>
          </a:p>
          <a:p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Few commonsense optimizations can be made</a:t>
            </a:r>
          </a:p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  - column major order,</a:t>
            </a:r>
          </a:p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  - heap vs stack</a:t>
            </a:r>
          </a:p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  - upper triangular traversal,</a:t>
            </a:r>
          </a:p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  - limit calls to I/O</a:t>
            </a:r>
          </a:p>
          <a:p>
            <a:pPr marL="0" indent="0">
              <a:buNone/>
            </a:pPr>
            <a:r>
              <a:rPr lang="en-US" sz="3200" dirty="0">
                <a:latin typeface="New York" pitchFamily="2" charset="0"/>
                <a:ea typeface="New York" pitchFamily="2" charset="0"/>
                <a:cs typeface="New York" pitchFamily="2" charset="0"/>
              </a:rPr>
              <a:t>  - compile with (aggressive?) optimization flags</a:t>
            </a:r>
          </a:p>
        </p:txBody>
      </p:sp>
    </p:spTree>
    <p:extLst>
      <p:ext uri="{BB962C8B-B14F-4D97-AF65-F5344CB8AC3E}">
        <p14:creationId xmlns:p14="http://schemas.microsoft.com/office/powerpoint/2010/main" val="2215358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96C0-7E13-C879-28E3-1D4F7402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B5353EE-6443-70B3-A78A-CBD93DA2CC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983061" y="0"/>
            <a:ext cx="5208939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DFAC2-A1E8-8CA7-CC52-1EAD766C4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6</a:t>
            </a:fld>
            <a:endParaRPr lang="en-US"/>
          </a:p>
        </p:txBody>
      </p:sp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4B058CA0-C50A-576F-ED3F-3B01C40F6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09" y="834662"/>
            <a:ext cx="6918235" cy="51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90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ADA7-F394-1309-C161-6529E149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94903-29BF-E261-279C-57FF957461EA}"/>
              </a:ext>
            </a:extLst>
          </p:cNvPr>
          <p:cNvSpPr txBox="1"/>
          <p:nvPr/>
        </p:nvSpPr>
        <p:spPr>
          <a:xfrm>
            <a:off x="582332" y="2304499"/>
            <a:ext cx="11609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American Typewriter" panose="02090604020004020304" pitchFamily="18" charset="77"/>
                <a:ea typeface="New York" pitchFamily="2" charset="0"/>
                <a:cs typeface="New York" pitchFamily="2" charset="0"/>
              </a:rPr>
              <a:t> -O3 -march=native -</a:t>
            </a:r>
            <a:r>
              <a:rPr lang="en-US" sz="3200" dirty="0" err="1">
                <a:solidFill>
                  <a:srgbClr val="0070C0"/>
                </a:solidFill>
                <a:latin typeface="American Typewriter" panose="02090604020004020304" pitchFamily="18" charset="77"/>
                <a:ea typeface="New York" pitchFamily="2" charset="0"/>
                <a:cs typeface="New York" pitchFamily="2" charset="0"/>
              </a:rPr>
              <a:t>ffast</a:t>
            </a:r>
            <a:r>
              <a:rPr lang="en-US" sz="3200" dirty="0">
                <a:solidFill>
                  <a:srgbClr val="0070C0"/>
                </a:solidFill>
                <a:latin typeface="American Typewriter" panose="02090604020004020304" pitchFamily="18" charset="77"/>
                <a:ea typeface="New York" pitchFamily="2" charset="0"/>
                <a:cs typeface="New York" pitchFamily="2" charset="0"/>
              </a:rPr>
              <a:t>-math -</a:t>
            </a:r>
            <a:r>
              <a:rPr lang="en-US" sz="3200" dirty="0" err="1">
                <a:solidFill>
                  <a:srgbClr val="0070C0"/>
                </a:solidFill>
                <a:latin typeface="American Typewriter" panose="02090604020004020304" pitchFamily="18" charset="77"/>
                <a:ea typeface="New York" pitchFamily="2" charset="0"/>
                <a:cs typeface="New York" pitchFamily="2" charset="0"/>
              </a:rPr>
              <a:t>funroll</a:t>
            </a:r>
            <a:r>
              <a:rPr lang="en-US" sz="3200" dirty="0">
                <a:solidFill>
                  <a:srgbClr val="0070C0"/>
                </a:solidFill>
                <a:latin typeface="American Typewriter" panose="02090604020004020304" pitchFamily="18" charset="77"/>
                <a:ea typeface="New York" pitchFamily="2" charset="0"/>
                <a:cs typeface="New York" pitchFamily="2" charset="0"/>
              </a:rPr>
              <a:t>-loops  -Accelerate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ubtitle 9">
                <a:extLst>
                  <a:ext uri="{FF2B5EF4-FFF2-40B4-BE49-F238E27FC236}">
                    <a16:creationId xmlns:a16="http://schemas.microsoft.com/office/drawing/2014/main" id="{C9BE1AEC-C06A-4D6E-1740-50C35A9A29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9970" y="2984735"/>
                <a:ext cx="10492108" cy="8885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3200" dirty="0">
                    <a:latin typeface="New York" pitchFamily="2" charset="0"/>
                    <a:ea typeface="New York" pitchFamily="2" charset="0"/>
                    <a:cs typeface="New York" pitchFamily="2" charset="0"/>
                  </a:rPr>
                  <a:t>Main bottleneck remains: forces computation is</a:t>
                </a:r>
                <a14:m>
                  <m:oMath xmlns:m="http://schemas.openxmlformats.org/officeDocument/2006/math">
                    <m:r>
                      <a:rPr lang="fr-FR" sz="3200" b="0" i="0" smtClean="0">
                        <a:latin typeface="Cambria Math" panose="02040503050406030204" pitchFamily="18" charset="0"/>
                        <a:ea typeface="New York" pitchFamily="2" charset="0"/>
                        <a:cs typeface="New York" pitchFamily="2" charset="0"/>
                      </a:rPr>
                      <m:t> </m:t>
                    </m:r>
                    <m:r>
                      <a:rPr lang="fr-FR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New York" pitchFamily="2" charset="0"/>
                        <a:cs typeface="New York" pitchFamily="2" charset="0"/>
                      </a:rPr>
                      <m:t>𝑂</m:t>
                    </m:r>
                    <m:r>
                      <a:rPr lang="fr-FR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New York" pitchFamily="2" charset="0"/>
                        <a:cs typeface="New York" pitchFamily="2" charset="0"/>
                      </a:rPr>
                      <m:t>(</m:t>
                    </m:r>
                    <m:sSubSup>
                      <m:sSubSupPr>
                        <m:ctrlPr>
                          <a:rPr lang="fr-FR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New York" pitchFamily="2" charset="0"/>
                            <a:cs typeface="New York" pitchFamily="2" charset="0"/>
                          </a:rPr>
                        </m:ctrlPr>
                      </m:sSubSupPr>
                      <m:e>
                        <m:r>
                          <a:rPr lang="fr-FR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New York" pitchFamily="2" charset="0"/>
                            <a:cs typeface="New York" pitchFamily="2" charset="0"/>
                          </a:rPr>
                          <m:t>𝑁</m:t>
                        </m:r>
                      </m:e>
                      <m:sub>
                        <m:r>
                          <a:rPr lang="fr-FR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New York" pitchFamily="2" charset="0"/>
                            <a:cs typeface="New York" pitchFamily="2" charset="0"/>
                          </a:rPr>
                          <m:t>𝑝</m:t>
                        </m:r>
                      </m:sub>
                      <m:sup>
                        <m:r>
                          <a:rPr lang="fr-FR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New York" pitchFamily="2" charset="0"/>
                            <a:cs typeface="New York" pitchFamily="2" charset="0"/>
                          </a:rPr>
                          <m:t>2</m:t>
                        </m:r>
                      </m:sup>
                    </m:sSubSup>
                    <m:r>
                      <a:rPr lang="fr-FR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New York" pitchFamily="2" charset="0"/>
                        <a:cs typeface="New York" pitchFamily="2" charset="0"/>
                      </a:rPr>
                      <m:t>)</m:t>
                    </m:r>
                  </m:oMath>
                </a14:m>
                <a:endParaRPr lang="en-US" sz="3200" dirty="0">
                  <a:solidFill>
                    <a:srgbClr val="C00000"/>
                  </a:solidFill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  <a:p>
                <a:pPr marL="0" indent="0">
                  <a:buNone/>
                </a:pPr>
                <a:endParaRPr lang="en-US" sz="3200" dirty="0">
                  <a:latin typeface="New York" pitchFamily="2" charset="0"/>
                  <a:ea typeface="New York" pitchFamily="2" charset="0"/>
                  <a:cs typeface="New York" pitchFamily="2" charset="0"/>
                </a:endParaRPr>
              </a:p>
            </p:txBody>
          </p:sp>
        </mc:Choice>
        <mc:Fallback xmlns="">
          <p:sp>
            <p:nvSpPr>
              <p:cNvPr id="10" name="Subtitle 9">
                <a:extLst>
                  <a:ext uri="{FF2B5EF4-FFF2-40B4-BE49-F238E27FC236}">
                    <a16:creationId xmlns:a16="http://schemas.microsoft.com/office/drawing/2014/main" id="{C9BE1AEC-C06A-4D6E-1740-50C35A9A2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70" y="2984735"/>
                <a:ext cx="10492108" cy="888529"/>
              </a:xfrm>
              <a:prstGeom prst="rect">
                <a:avLst/>
              </a:prstGeom>
              <a:blipFill>
                <a:blip r:embed="rId2"/>
                <a:stretch>
                  <a:fillRect l="-1451" t="-12857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40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9AC2A-D1E0-1438-8EF8-A5DFA1F9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66D19027-5679-0DA8-9604-BAC8E2F46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96" y="236094"/>
            <a:ext cx="8829207" cy="662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89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98BF7-10E5-3273-B9A3-71C48668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9</a:t>
            </a:fld>
            <a:endParaRPr lang="en-US"/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73A3C57C-D631-A3D6-C327-9A9F1B4FA839}"/>
              </a:ext>
            </a:extLst>
          </p:cNvPr>
          <p:cNvSpPr txBox="1">
            <a:spLocks/>
          </p:cNvSpPr>
          <p:nvPr/>
        </p:nvSpPr>
        <p:spPr>
          <a:xfrm>
            <a:off x="1826057" y="3071109"/>
            <a:ext cx="8539886" cy="71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>
                <a:latin typeface="New York" pitchFamily="2" charset="0"/>
                <a:ea typeface="New York" pitchFamily="2" charset="0"/>
                <a:cs typeface="New York" pitchFamily="2" charset="0"/>
              </a:rPr>
              <a:t>We need to introduce </a:t>
            </a:r>
            <a:r>
              <a:rPr lang="en-US" sz="4400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parallelization</a:t>
            </a:r>
            <a:r>
              <a:rPr lang="en-US" sz="4400" dirty="0">
                <a:latin typeface="New York" pitchFamily="2" charset="0"/>
                <a:ea typeface="New York" pitchFamily="2" charset="0"/>
                <a:cs typeface="New York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689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01BBF-F88F-F3AA-8CC8-AC8B1381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graph with lines and points&#10;&#10;AI-generated content may be incorrect.">
            <a:extLst>
              <a:ext uri="{FF2B5EF4-FFF2-40B4-BE49-F238E27FC236}">
                <a16:creationId xmlns:a16="http://schemas.microsoft.com/office/drawing/2014/main" id="{CF7A7BE5-DA8F-8020-B073-807A1C977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94" y="177071"/>
            <a:ext cx="8671811" cy="650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4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BE95E033-DEDC-6DA3-8471-A4C46E9D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762" y="302223"/>
            <a:ext cx="8338071" cy="62535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CFE70-EF70-3396-32CC-9516DAF8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11</a:t>
            </a:fld>
            <a:endParaRPr lang="en-US"/>
          </a:p>
        </p:txBody>
      </p:sp>
      <p:sp>
        <p:nvSpPr>
          <p:cNvPr id="8" name="Subtitle 9">
            <a:extLst>
              <a:ext uri="{FF2B5EF4-FFF2-40B4-BE49-F238E27FC236}">
                <a16:creationId xmlns:a16="http://schemas.microsoft.com/office/drawing/2014/main" id="{7F8DC2D2-05F5-3CBA-02DC-24FD122D2089}"/>
              </a:ext>
            </a:extLst>
          </p:cNvPr>
          <p:cNvSpPr txBox="1">
            <a:spLocks/>
          </p:cNvSpPr>
          <p:nvPr/>
        </p:nvSpPr>
        <p:spPr>
          <a:xfrm>
            <a:off x="574127" y="1002415"/>
            <a:ext cx="3426603" cy="2282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u="sng" dirty="0">
                <a:latin typeface="New York" pitchFamily="2" charset="0"/>
                <a:ea typeface="New York" pitchFamily="2" charset="0"/>
                <a:cs typeface="New York" pitchFamily="2" charset="0"/>
              </a:rPr>
              <a:t>Can we test for another compiler?</a:t>
            </a:r>
          </a:p>
        </p:txBody>
      </p:sp>
      <p:sp>
        <p:nvSpPr>
          <p:cNvPr id="9" name="Subtitle 9">
            <a:extLst>
              <a:ext uri="{FF2B5EF4-FFF2-40B4-BE49-F238E27FC236}">
                <a16:creationId xmlns:a16="http://schemas.microsoft.com/office/drawing/2014/main" id="{7B2EFF3B-8A9A-0631-1F19-729EB2D912C9}"/>
              </a:ext>
            </a:extLst>
          </p:cNvPr>
          <p:cNvSpPr txBox="1">
            <a:spLocks/>
          </p:cNvSpPr>
          <p:nvPr/>
        </p:nvSpPr>
        <p:spPr>
          <a:xfrm>
            <a:off x="574127" y="2795113"/>
            <a:ext cx="2901635" cy="19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err="1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flang</a:t>
            </a:r>
            <a:r>
              <a:rPr lang="en-US" sz="3200" dirty="0">
                <a:solidFill>
                  <a:srgbClr val="0070C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  (2020)</a:t>
            </a:r>
            <a:endParaRPr lang="en-US" sz="3200" dirty="0">
              <a:latin typeface="New York" pitchFamily="2" charset="0"/>
              <a:ea typeface="New York" pitchFamily="2" charset="0"/>
              <a:cs typeface="New York" pitchFamily="2" charset="0"/>
            </a:endParaRPr>
          </a:p>
          <a:p>
            <a:pPr marL="0" indent="0">
              <a:buNone/>
            </a:pPr>
            <a:r>
              <a:rPr lang="en-US" sz="3200" dirty="0" err="1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gfortran</a:t>
            </a:r>
            <a:r>
              <a:rPr lang="en-US" sz="3200" dirty="0">
                <a:solidFill>
                  <a:srgbClr val="C00000"/>
                </a:solidFill>
                <a:latin typeface="New York" pitchFamily="2" charset="0"/>
                <a:ea typeface="New York" pitchFamily="2" charset="0"/>
                <a:cs typeface="New York" pitchFamily="2" charset="0"/>
              </a:rPr>
              <a:t> (2005)</a:t>
            </a:r>
          </a:p>
        </p:txBody>
      </p:sp>
    </p:spTree>
    <p:extLst>
      <p:ext uri="{BB962C8B-B14F-4D97-AF65-F5344CB8AC3E}">
        <p14:creationId xmlns:p14="http://schemas.microsoft.com/office/powerpoint/2010/main" val="141262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9E91-73DF-9DB6-0B22-6F0705DA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24B8C-96C5-1CCF-1163-7414FE11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09E3E-38BD-F344-8499-F785F7B02EAB}" type="slidenum">
              <a:rPr lang="en-US" smtClean="0"/>
              <a:t>12</a:t>
            </a:fld>
            <a:endParaRPr lang="en-US"/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8ECCC933-2D2F-0774-92D9-4519874E1E35}"/>
              </a:ext>
            </a:extLst>
          </p:cNvPr>
          <p:cNvSpPr txBox="1">
            <a:spLocks/>
          </p:cNvSpPr>
          <p:nvPr/>
        </p:nvSpPr>
        <p:spPr>
          <a:xfrm>
            <a:off x="4964691" y="3071109"/>
            <a:ext cx="2262617" cy="71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latin typeface="New York" pitchFamily="2" charset="0"/>
                <a:ea typeface="New York" pitchFamily="2" charset="0"/>
                <a:cs typeface="New York" pitchFamily="2" charset="0"/>
              </a:rPr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142288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4390</TotalTime>
  <Words>198</Words>
  <Application>Microsoft Macintosh PowerPoint</Application>
  <PresentationFormat>Widescreen</PresentationFormat>
  <Paragraphs>50</Paragraphs>
  <Slides>13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American Typewriter</vt:lpstr>
      <vt:lpstr>Aptos</vt:lpstr>
      <vt:lpstr>Aptos Display</vt:lpstr>
      <vt:lpstr>Arial</vt:lpstr>
      <vt:lpstr>Cambria Math</vt:lpstr>
      <vt:lpstr>New York</vt:lpstr>
      <vt:lpstr>Times New Roman</vt:lpstr>
      <vt:lpstr>Office Theme</vt:lpstr>
      <vt:lpstr>The N-Body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Erwan Le Doeuff</dc:creator>
  <cp:lastModifiedBy>Erwan Le Doeuff</cp:lastModifiedBy>
  <cp:revision>12</cp:revision>
  <dcterms:created xsi:type="dcterms:W3CDTF">2025-12-28T08:44:18Z</dcterms:created>
  <dcterms:modified xsi:type="dcterms:W3CDTF">2026-01-03T09:23:32Z</dcterms:modified>
</cp:coreProperties>
</file>